
<file path=[Content_Types].xml><?xml version="1.0" encoding="utf-8"?>
<Types xmlns="http://schemas.openxmlformats.org/package/2006/content-types">
  <Default Extension="png" ContentType="image/png"/>
  <Default Extension="jfif" ContentType="image/jf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7.xml" ContentType="application/vnd.openxmlformats-officedocument.presentationml.comments+xml"/>
  <Override PartName="/ppt/notesSlides/notesSlide9.xml" ContentType="application/vnd.openxmlformats-officedocument.presentationml.notesSlide+xml"/>
  <Override PartName="/ppt/comments/comment8.xml" ContentType="application/vnd.openxmlformats-officedocument.presentationml.comments+xml"/>
  <Override PartName="/ppt/notesSlides/notesSlide10.xml" ContentType="application/vnd.openxmlformats-officedocument.presentationml.notesSlide+xml"/>
  <Override PartName="/ppt/comments/comment9.xml" ContentType="application/vnd.openxmlformats-officedocument.presentationml.comment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13" clrIdx="0">
    <p:extLst>
      <p:ext uri="{19B8F6BF-5375-455C-9EA6-DF929625EA0E}">
        <p15:presenceInfo xmlns:p15="http://schemas.microsoft.com/office/powerpoint/2012/main" userId="0103bc14df1e7c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F0E19D-CAD5-436C-9CE4-D4F6923A0B5A}" v="16" dt="2026-04-16T06:34:09.285"/>
    <p1510:client id="{19985912-76D1-45BE-902D-1EEFBD2A5B7A}" v="5" dt="2026-04-16T17:05:45.580"/>
    <p1510:client id="{5E1E421F-E853-40AD-89C7-005C582B717B}" v="14" dt="2026-04-16T17:15:45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3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óth Bálint" userId="S::toth.balint_2021d@bolyai-szakkozep.hu::a093a2ea-1f53-4c95-81e6-3fee09c6b129" providerId="AD" clId="Web-{19985912-76D1-45BE-902D-1EEFBD2A5B7A}"/>
    <pc:docChg chg="modSld">
      <pc:chgData name="Tóth Bálint" userId="S::toth.balint_2021d@bolyai-szakkozep.hu::a093a2ea-1f53-4c95-81e6-3fee09c6b129" providerId="AD" clId="Web-{19985912-76D1-45BE-902D-1EEFBD2A5B7A}" dt="2026-04-16T17:05:45.580" v="4"/>
      <pc:docMkLst>
        <pc:docMk/>
      </pc:docMkLst>
      <pc:sldChg chg="modSp">
        <pc:chgData name="Tóth Bálint" userId="S::toth.balint_2021d@bolyai-szakkozep.hu::a093a2ea-1f53-4c95-81e6-3fee09c6b129" providerId="AD" clId="Web-{19985912-76D1-45BE-902D-1EEFBD2A5B7A}" dt="2026-04-16T17:05:45.580" v="4"/>
        <pc:sldMkLst>
          <pc:docMk/>
          <pc:sldMk cId="0" sldId="260"/>
        </pc:sldMkLst>
        <pc:picChg chg="mod modCrop">
          <ac:chgData name="Tóth Bálint" userId="S::toth.balint_2021d@bolyai-szakkozep.hu::a093a2ea-1f53-4c95-81e6-3fee09c6b129" providerId="AD" clId="Web-{19985912-76D1-45BE-902D-1EEFBD2A5B7A}" dt="2026-04-16T17:05:45.580" v="4"/>
          <ac:picMkLst>
            <pc:docMk/>
            <pc:sldMk cId="0" sldId="260"/>
            <ac:picMk id="20" creationId="{00000000-0000-0000-0000-000000000000}"/>
          </ac:picMkLst>
        </pc:picChg>
      </pc:sldChg>
    </pc:docChg>
  </pc:docChgLst>
  <pc:docChgLst>
    <pc:chgData name="Tóth Bálint" userId="S::toth.balint_2021d@bolyai-szakkozep.hu::a093a2ea-1f53-4c95-81e6-3fee09c6b129" providerId="AD" clId="Web-{5E1E421F-E853-40AD-89C7-005C582B717B}"/>
    <pc:docChg chg="modSld">
      <pc:chgData name="Tóth Bálint" userId="S::toth.balint_2021d@bolyai-szakkozep.hu::a093a2ea-1f53-4c95-81e6-3fee09c6b129" providerId="AD" clId="Web-{5E1E421F-E853-40AD-89C7-005C582B717B}" dt="2026-04-16T17:15:45.984" v="12" actId="1076"/>
      <pc:docMkLst>
        <pc:docMk/>
      </pc:docMkLst>
      <pc:sldChg chg="addSp delSp modSp">
        <pc:chgData name="Tóth Bálint" userId="S::toth.balint_2021d@bolyai-szakkozep.hu::a093a2ea-1f53-4c95-81e6-3fee09c6b129" providerId="AD" clId="Web-{5E1E421F-E853-40AD-89C7-005C582B717B}" dt="2026-04-16T17:15:45.984" v="12" actId="1076"/>
        <pc:sldMkLst>
          <pc:docMk/>
          <pc:sldMk cId="0" sldId="260"/>
        </pc:sldMkLst>
        <pc:spChg chg="add del mod">
          <ac:chgData name="Tóth Bálint" userId="S::toth.balint_2021d@bolyai-szakkozep.hu::a093a2ea-1f53-4c95-81e6-3fee09c6b129" providerId="AD" clId="Web-{5E1E421F-E853-40AD-89C7-005C582B717B}" dt="2026-04-16T17:14:51.108" v="5"/>
          <ac:spMkLst>
            <pc:docMk/>
            <pc:sldMk cId="0" sldId="260"/>
            <ac:spMk id="21" creationId="{FA223D7C-7A73-15F3-EBB0-D0F8288D4963}"/>
          </ac:spMkLst>
        </pc:spChg>
        <pc:picChg chg="del mod">
          <ac:chgData name="Tóth Bálint" userId="S::toth.balint_2021d@bolyai-szakkozep.hu::a093a2ea-1f53-4c95-81e6-3fee09c6b129" providerId="AD" clId="Web-{5E1E421F-E853-40AD-89C7-005C582B717B}" dt="2026-04-16T17:14:46.029" v="1"/>
          <ac:picMkLst>
            <pc:docMk/>
            <pc:sldMk cId="0" sldId="260"/>
            <ac:picMk id="20" creationId="{00000000-0000-0000-0000-000000000000}"/>
          </ac:picMkLst>
        </pc:picChg>
        <pc:picChg chg="add mod">
          <ac:chgData name="Tóth Bálint" userId="S::toth.balint_2021d@bolyai-szakkozep.hu::a093a2ea-1f53-4c95-81e6-3fee09c6b129" providerId="AD" clId="Web-{5E1E421F-E853-40AD-89C7-005C582B717B}" dt="2026-04-16T17:15:45.984" v="12" actId="1076"/>
          <ac:picMkLst>
            <pc:docMk/>
            <pc:sldMk cId="0" sldId="260"/>
            <ac:picMk id="22" creationId="{10C4C336-8FE6-513B-8A1C-D32B7530677A}"/>
          </ac:picMkLst>
        </pc:picChg>
      </pc:sldChg>
    </pc:docChg>
  </pc:docChgLst>
  <pc:docChgLst>
    <pc:chgData name="Tóth Bálint" userId="S::toth.balint_2021d@bolyai-szakkozep.hu::a093a2ea-1f53-4c95-81e6-3fee09c6b129" providerId="AD" clId="Web-{17F0E19D-CAD5-436C-9CE4-D4F6923A0B5A}"/>
    <pc:docChg chg="modSld">
      <pc:chgData name="Tóth Bálint" userId="S::toth.balint_2021d@bolyai-szakkozep.hu::a093a2ea-1f53-4c95-81e6-3fee09c6b129" providerId="AD" clId="Web-{17F0E19D-CAD5-436C-9CE4-D4F6923A0B5A}" dt="2026-04-16T06:34:09.285" v="15"/>
      <pc:docMkLst>
        <pc:docMk/>
      </pc:docMkLst>
      <pc:sldChg chg="modSp">
        <pc:chgData name="Tóth Bálint" userId="S::toth.balint_2021d@bolyai-szakkozep.hu::a093a2ea-1f53-4c95-81e6-3fee09c6b129" providerId="AD" clId="Web-{17F0E19D-CAD5-436C-9CE4-D4F6923A0B5A}" dt="2026-04-16T06:32:39.033" v="2" actId="20577"/>
        <pc:sldMkLst>
          <pc:docMk/>
          <pc:sldMk cId="0" sldId="257"/>
        </pc:sldMkLst>
        <pc:spChg chg="mod">
          <ac:chgData name="Tóth Bálint" userId="S::toth.balint_2021d@bolyai-szakkozep.hu::a093a2ea-1f53-4c95-81e6-3fee09c6b129" providerId="AD" clId="Web-{17F0E19D-CAD5-436C-9CE4-D4F6923A0B5A}" dt="2026-04-16T06:32:39.033" v="2" actId="20577"/>
          <ac:spMkLst>
            <pc:docMk/>
            <pc:sldMk cId="0" sldId="257"/>
            <ac:spMk id="8" creationId="{00000000-0000-0000-0000-000000000000}"/>
          </ac:spMkLst>
        </pc:spChg>
      </pc:sldChg>
      <pc:sldChg chg="delSp modSp">
        <pc:chgData name="Tóth Bálint" userId="S::toth.balint_2021d@bolyai-szakkozep.hu::a093a2ea-1f53-4c95-81e6-3fee09c6b129" providerId="AD" clId="Web-{17F0E19D-CAD5-436C-9CE4-D4F6923A0B5A}" dt="2026-04-16T06:34:09.285" v="15"/>
        <pc:sldMkLst>
          <pc:docMk/>
          <pc:sldMk cId="0" sldId="259"/>
        </pc:sldMkLst>
        <pc:spChg chg="mod">
          <ac:chgData name="Tóth Bálint" userId="S::toth.balint_2021d@bolyai-szakkozep.hu::a093a2ea-1f53-4c95-81e6-3fee09c6b129" providerId="AD" clId="Web-{17F0E19D-CAD5-436C-9CE4-D4F6923A0B5A}" dt="2026-04-16T06:33:47.207" v="14" actId="20577"/>
          <ac:spMkLst>
            <pc:docMk/>
            <pc:sldMk cId="0" sldId="259"/>
            <ac:spMk id="13" creationId="{00000000-0000-0000-0000-000000000000}"/>
          </ac:spMkLst>
        </pc:spChg>
        <pc:picChg chg="del">
          <ac:chgData name="Tóth Bálint" userId="S::toth.balint_2021d@bolyai-szakkozep.hu::a093a2ea-1f53-4c95-81e6-3fee09c6b129" providerId="AD" clId="Web-{17F0E19D-CAD5-436C-9CE4-D4F6923A0B5A}" dt="2026-04-16T06:34:09.285" v="15"/>
          <ac:picMkLst>
            <pc:docMk/>
            <pc:sldMk cId="0" sldId="259"/>
            <ac:picMk id="12" creationId="{00000000-0000-0000-0000-000000000000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6T21:58:44.702" idx="1">
    <p:pos x="10" y="10"/>
    <p:text>pénzügyek kezelése nehéz, bevétel-kiadás követés, tudatos megtakarítás, reszponzív, korosztályfüggetlen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6T21:58:55.295" idx="2">
    <p:pos x="10" y="10"/>
    <p:text>pénzügyek kezelése nehéz, bevétel-kiadás követés, tudatos megtakarítás, reszponzív, korosztályfüggetlen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6T21:59:02.006" idx="3">
    <p:pos x="10" y="10"/>
    <p:text>pénzügyek kezelése nehéz, bevétel-kiadás követés, tudatos megtakarítás, reszponzív, korosztályfüggetlen</p:text>
    <p:extLst>
      <p:ext uri="{C676402C-5697-4E1C-873F-D02D1690AC5C}">
        <p15:threadingInfo xmlns:p15="http://schemas.microsoft.com/office/powerpoint/2012/main" timeZoneBias="-120"/>
      </p:ext>
    </p:extLst>
  </p:cm>
  <p:cm authorId="1" dt="2026-04-16T21:59:05.311" idx="4">
    <p:pos x="106" y="106"/>
    <p:text>pénzügyek kezelése nehéz, bevétel-kiadás követés, tudatos megtakarítás, reszponzív, korosztályfüggetlen</p:text>
    <p:extLst>
      <p:ext uri="{C676402C-5697-4E1C-873F-D02D1690AC5C}">
        <p15:threadingInfo xmlns:p15="http://schemas.microsoft.com/office/powerpoint/2012/main" timeZoneBias="-120"/>
      </p:ext>
    </p:extLst>
  </p:cm>
  <p:cm authorId="1" dt="2026-04-16T21:59:09.637" idx="5">
    <p:pos x="202" y="202"/>
    <p:text>pénzügyek kezelése nehéz, bevétel-kiadás követés, tudatos megtakarítás, reszponzív, korosztályfüggetlen</p:text>
    <p:extLst>
      <p:ext uri="{C676402C-5697-4E1C-873F-D02D1690AC5C}">
        <p15:threadingInfo xmlns:p15="http://schemas.microsoft.com/office/powerpoint/2012/main" timeZoneBias="-120"/>
      </p:ext>
    </p:extLst>
  </p:cm>
  <p:cm authorId="1" dt="2026-04-16T21:59:15.118" idx="6">
    <p:pos x="298" y="298"/>
    <p:text>pénzügyek kezelése nehéz, bevétel-kiadás követés, tudatos megtakarítás, reszponzív, korosztályfüggetlen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6T21:59:22.987" idx="7">
    <p:pos x="10" y="10"/>
    <p:text>pénzügyek kezelése nehéz, bevétel-kiadás követés, tudatos megtakarítás, reszponzív, korosztályfüggetlen</p:text>
    <p:extLst>
      <p:ext uri="{C676402C-5697-4E1C-873F-D02D1690AC5C}">
        <p15:threadingInfo xmlns:p15="http://schemas.microsoft.com/office/powerpoint/2012/main" timeZoneBias="-120"/>
      </p:ext>
    </p:extLst>
  </p:cm>
  <p:cm authorId="1" dt="2026-04-16T21:59:28.687" idx="8">
    <p:pos x="106" y="106"/>
    <p:text>A frontend és backend külön porton fut, ezért CORS szükséges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6T21:59:44.399" idx="9">
    <p:pos x="10" y="10"/>
    <p:text>5 tábla, idegen kulcs, Felhasznalo, Tranzakcio, Cel, Kategoria, Szerepkor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6T21:59:54.108" idx="10">
    <p:pos x="10" y="10"/>
    <p:text>vendég, regisztrált felhasználó, adminisztrátor, funkció, nem funkcionális: reszponzív, validáció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6T22:00:02.800" idx="11">
    <p:pos x="10" y="10"/>
    <p:text>16 frontend, 21 backend, 37 összesen, Vitest, Jest, Supertest, 0 kritikus hiba, autentikáció, tranzakció, célkezelés, negatív tesztek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6T22:00:08.678" idx="12">
    <p:pos x="10" y="10"/>
    <p:text>live demo, főoldal, egyenleg, tranzakció hozzáadása, grafikonok, célok, admin panel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6T22:00:17.060" idx="13">
    <p:pos x="10" y="10"/>
    <p:text>megvalósítva, stabil rendszer, 37 teszt, továbbfejlesztés: mobil app, AI elemzés, email értesítés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9601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omments" Target="../comments/comment3.xml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comments" Target="../comments/commen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f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3A3D56"/>
          </a:solidFill>
          <a:ln w="12700">
            <a:solidFill>
              <a:srgbClr val="3A3D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Budget</a:t>
            </a:r>
            <a:endParaRPr lang="en-US" sz="660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>
                <a:solidFill>
                  <a:srgbClr val="E67E22"/>
                </a:solidFill>
                <a:ea typeface="Trebuchet MS" pitchFamily="34" charset="-122"/>
                <a:cs typeface="Trebuchet MS" pitchFamily="34" charset="-120"/>
              </a:rPr>
              <a:t>Buddy</a:t>
            </a:r>
            <a:endParaRPr lang="en-US" sz="660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BBBBCC"/>
                </a:solidFill>
                <a:ea typeface="Trebuchet MS" pitchFamily="34" charset="-122"/>
                <a:cs typeface="Trebuchet MS" pitchFamily="34" charset="-120"/>
              </a:rPr>
              <a:t>Pénzügyi nyilvántartó webalkalmazás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685800" y="44348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D0C0"/>
                </a:solidFill>
                <a:ea typeface="Trebuchet MS" pitchFamily="34" charset="-122"/>
                <a:cs typeface="Trebuchet MS" pitchFamily="34" charset="-120"/>
              </a:rPr>
              <a:t>Csoporttagok: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685800" y="4636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Tóth Bálint  |  Gál Alex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3520440" y="44348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D0C0"/>
                </a:solidFill>
                <a:ea typeface="Trebuchet MS" pitchFamily="34" charset="-122"/>
                <a:cs typeface="Trebuchet MS" pitchFamily="34" charset="-120"/>
              </a:rPr>
              <a:t>Konzulens: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3520440" y="4636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Dorogházi Donát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355080" y="44348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D0C0"/>
                </a:solidFill>
                <a:ea typeface="Trebuchet MS" pitchFamily="34" charset="-122"/>
                <a:cs typeface="Trebuchet MS" pitchFamily="34" charset="-120"/>
              </a:rPr>
              <a:t>Iskola: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6355080" y="4636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8229600" y="5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5" name="Szövegdoboz 14"/>
          <p:cNvSpPr txBox="1"/>
          <p:nvPr/>
        </p:nvSpPr>
        <p:spPr>
          <a:xfrm>
            <a:off x="6268369" y="4602102"/>
            <a:ext cx="2651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>
                <a:solidFill>
                  <a:schemeClr val="bg1"/>
                </a:solidFill>
              </a:rPr>
              <a:t>BMSZC Bolyai János Műszaki Technikum és Kollégium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0" y="4005072"/>
            <a:ext cx="9144000" cy="1138428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Bevezetés &amp; Motiváció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9748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  <a:ea typeface="Trebuchet MS" pitchFamily="34" charset="-122"/>
                <a:cs typeface="Trebuchet MS" pitchFamily="34" charset="-120"/>
              </a:rPr>
              <a:t>💸</a:t>
            </a:r>
            <a:endParaRPr lang="en-US" sz="360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ea typeface="Trebuchet MS" pitchFamily="34" charset="-122"/>
                <a:cs typeface="Trebuchet MS" pitchFamily="34" charset="-120"/>
              </a:rPr>
              <a:t>A </a:t>
            </a:r>
            <a:r>
              <a:rPr lang="hu-HU" sz="1500" b="1" dirty="0">
                <a:solidFill>
                  <a:srgbClr val="C0392B"/>
                </a:solidFill>
                <a:ea typeface="Trebuchet MS" pitchFamily="34" charset="-122"/>
                <a:cs typeface="Trebuchet MS" pitchFamily="34" charset="-120"/>
              </a:rPr>
              <a:t>f</a:t>
            </a:r>
            <a:r>
              <a:rPr lang="en-US" sz="1500" b="1" dirty="0" err="1" smtClean="0">
                <a:solidFill>
                  <a:srgbClr val="C0392B"/>
                </a:solidFill>
                <a:ea typeface="Trebuchet MS" pitchFamily="34" charset="-122"/>
                <a:cs typeface="Trebuchet MS" pitchFamily="34" charset="-120"/>
              </a:rPr>
              <a:t>eladat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55770"/>
                </a:solidFill>
                <a:ea typeface="Trebuchet MS" pitchFamily="34" charset="-122"/>
                <a:cs typeface="Trebuchet MS" pitchFamily="34" charset="-120"/>
              </a:rPr>
              <a:t>A mindennapi bevételek és kiadások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555770"/>
                </a:solidFill>
                <a:ea typeface="Trebuchet MS" pitchFamily="34" charset="-122"/>
                <a:cs typeface="Trebuchet MS" pitchFamily="34" charset="-120"/>
              </a:rPr>
              <a:t>nyomon követése sok embernek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555770"/>
                </a:solidFill>
                <a:ea typeface="Trebuchet MS" pitchFamily="34" charset="-122"/>
                <a:cs typeface="Trebuchet MS" pitchFamily="34" charset="-120"/>
              </a:rPr>
              <a:t>kihívást jelent.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05840"/>
            <a:ext cx="269748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344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  <a:ea typeface="Trebuchet MS" pitchFamily="34" charset="-122"/>
                <a:cs typeface="Trebuchet MS" pitchFamily="34" charset="-120"/>
              </a:rPr>
              <a:t>💡</a:t>
            </a:r>
            <a:endParaRPr lang="en-US" sz="360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67E22"/>
                </a:solidFill>
                <a:ea typeface="Trebuchet MS" pitchFamily="34" charset="-122"/>
                <a:cs typeface="Trebuchet MS" pitchFamily="34" charset="-120"/>
              </a:rPr>
              <a:t>Az ötlet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3383280" y="230428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55770"/>
                </a:solidFill>
                <a:ea typeface="Trebuchet MS" pitchFamily="34" charset="-122"/>
                <a:cs typeface="Trebuchet MS" pitchFamily="34" charset="-120"/>
              </a:rPr>
              <a:t>Egy egyszerű webalkalmazás,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555770"/>
                </a:solidFill>
                <a:ea typeface="Trebuchet MS" pitchFamily="34" charset="-122"/>
                <a:cs typeface="Trebuchet MS" pitchFamily="34" charset="-120"/>
              </a:rPr>
              <a:t>amivel átláthatóvá válik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555770"/>
                </a:solidFill>
                <a:ea typeface="Trebuchet MS" pitchFamily="34" charset="-122"/>
                <a:cs typeface="Trebuchet MS" pitchFamily="34" charset="-120"/>
              </a:rPr>
              <a:t>a pénzügyi helyzeted.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05840"/>
            <a:ext cx="2697480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344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  <a:ea typeface="Trebuchet MS" pitchFamily="34" charset="-122"/>
                <a:cs typeface="Trebuchet MS" pitchFamily="34" charset="-120"/>
              </a:rPr>
              <a:t>🎯</a:t>
            </a:r>
            <a:endParaRPr lang="en-US" sz="3600"/>
          </a:p>
        </p:txBody>
      </p:sp>
      <p:sp>
        <p:nvSpPr>
          <p:cNvPr id="18" name="Text 16"/>
          <p:cNvSpPr/>
          <p:nvPr/>
        </p:nvSpPr>
        <p:spPr>
          <a:xfrm>
            <a:off x="6263640" y="1920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7AE60"/>
                </a:solidFill>
                <a:ea typeface="Trebuchet MS" pitchFamily="34" charset="-122"/>
                <a:cs typeface="Trebuchet MS" pitchFamily="34" charset="-120"/>
              </a:rPr>
              <a:t>A cél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263640" y="230428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55770"/>
                </a:solidFill>
                <a:ea typeface="Trebuchet MS" pitchFamily="34" charset="-122"/>
                <a:cs typeface="Trebuchet MS" pitchFamily="34" charset="-120"/>
              </a:rPr>
              <a:t>Tudatos pénzügyi szokások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555770"/>
                </a:solidFill>
                <a:ea typeface="Trebuchet MS" pitchFamily="34" charset="-122"/>
                <a:cs typeface="Trebuchet MS" pitchFamily="34" charset="-120"/>
              </a:rPr>
              <a:t>kialakítása grafikonokkal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555770"/>
                </a:solidFill>
                <a:ea typeface="Trebuchet MS" pitchFamily="34" charset="-122"/>
                <a:cs typeface="Trebuchet MS" pitchFamily="34" charset="-120"/>
              </a:rPr>
              <a:t>és megtakarítási tervekkel.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1203960" y="4389120"/>
            <a:ext cx="678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55770"/>
                </a:solidFill>
                <a:ea typeface="Trebuchet MS" pitchFamily="34" charset="-122"/>
                <a:cs typeface="Trebuchet MS" pitchFamily="34" charset="-120"/>
              </a:rPr>
              <a:t>Az alkalmazás a különböző korosztályok </a:t>
            </a:r>
            <a:r>
              <a:rPr lang="en-US" sz="1200" i="1" err="1">
                <a:solidFill>
                  <a:srgbClr val="555770"/>
                </a:solidFill>
                <a:ea typeface="Trebuchet MS" pitchFamily="34" charset="-122"/>
                <a:cs typeface="Trebuchet MS" pitchFamily="34" charset="-120"/>
              </a:rPr>
              <a:t>számára</a:t>
            </a:r>
            <a:r>
              <a:rPr lang="en-US" sz="1200" i="1">
                <a:solidFill>
                  <a:srgbClr val="555770"/>
                </a:solidFill>
                <a:ea typeface="Trebuchet MS" pitchFamily="34" charset="-122"/>
                <a:cs typeface="Trebuchet MS" pitchFamily="34" charset="-120"/>
              </a:rPr>
              <a:t> is könnyen használható, reszponzív felületet biztosít.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8229600" y="-91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chemeClr val="bg1"/>
                </a:solidFill>
                <a:ea typeface="Trebuchet MS" pitchFamily="34" charset="-122"/>
                <a:cs typeface="Trebuchet MS" pitchFamily="34" charset="-120"/>
              </a:rPr>
              <a:t>2 / 11</a:t>
            </a:r>
            <a:endParaRPr 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434840" y="1005840"/>
            <a:ext cx="73152" cy="384048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Munkamegosztás</a:t>
            </a:r>
            <a:endParaRPr lang="en-US" sz="2800"/>
          </a:p>
        </p:txBody>
      </p:sp>
      <p:sp>
        <p:nvSpPr>
          <p:cNvPr id="38" name="Shape 36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25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chemeClr val="bg1"/>
                </a:solidFill>
                <a:ea typeface="Trebuchet MS" pitchFamily="34" charset="-122"/>
                <a:cs typeface="Trebuchet MS" pitchFamily="34" charset="-120"/>
              </a:rPr>
              <a:t>3 / 11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178808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06908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424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Tóth Bálint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E0E0"/>
                </a:solidFill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38912" y="1801368"/>
            <a:ext cx="10972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7739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React 19 komponensek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38912" y="2304288"/>
            <a:ext cx="10972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27685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Chart.js grafikonok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438912" y="2807208"/>
            <a:ext cx="10972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77977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React Router navigáció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438912" y="3310128"/>
            <a:ext cx="10972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2826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Frontend validáció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438912" y="3813048"/>
            <a:ext cx="10972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78561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Vitest egységtesztek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438912" y="4315968"/>
            <a:ext cx="10972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2885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Kezdőoldal &amp; UI/UX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4069080" cy="6583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424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Gál Alex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4800600" y="13898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E0E0"/>
                </a:solidFill>
                <a:ea typeface="Trebuchet MS" pitchFamily="34" charset="-122"/>
                <a:cs typeface="Trebuchet MS" pitchFamily="34" charset="-120"/>
              </a:rPr>
              <a:t>Backend 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4828032" y="1801368"/>
            <a:ext cx="109728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17739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Express 5 + TypeScript</a:t>
            </a:r>
            <a:endParaRPr lang="en-US" sz="1300"/>
          </a:p>
        </p:txBody>
      </p:sp>
      <p:sp>
        <p:nvSpPr>
          <p:cNvPr id="28" name="Shape 26"/>
          <p:cNvSpPr/>
          <p:nvPr/>
        </p:nvSpPr>
        <p:spPr>
          <a:xfrm>
            <a:off x="4828032" y="2304288"/>
            <a:ext cx="109728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27685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REST API végpontok</a:t>
            </a:r>
            <a:endParaRPr lang="en-US" sz="1300"/>
          </a:p>
        </p:txBody>
      </p:sp>
      <p:sp>
        <p:nvSpPr>
          <p:cNvPr id="30" name="Shape 28"/>
          <p:cNvSpPr/>
          <p:nvPr/>
        </p:nvSpPr>
        <p:spPr>
          <a:xfrm>
            <a:off x="4828032" y="2807208"/>
            <a:ext cx="109728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277977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MySQL adatbázis</a:t>
            </a:r>
            <a:endParaRPr lang="en-US" sz="1300"/>
          </a:p>
        </p:txBody>
      </p:sp>
      <p:sp>
        <p:nvSpPr>
          <p:cNvPr id="32" name="Shape 30"/>
          <p:cNvSpPr/>
          <p:nvPr/>
        </p:nvSpPr>
        <p:spPr>
          <a:xfrm>
            <a:off x="4828032" y="3310128"/>
            <a:ext cx="109728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2826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JWT autentikáció</a:t>
            </a:r>
            <a:endParaRPr lang="en-US" sz="1300"/>
          </a:p>
        </p:txBody>
      </p:sp>
      <p:sp>
        <p:nvSpPr>
          <p:cNvPr id="34" name="Shape 32"/>
          <p:cNvSpPr/>
          <p:nvPr/>
        </p:nvSpPr>
        <p:spPr>
          <a:xfrm>
            <a:off x="4828032" y="3813048"/>
            <a:ext cx="109728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378561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Jest + Supertest tesztek</a:t>
            </a:r>
            <a:endParaRPr lang="en-US" sz="1300"/>
          </a:p>
        </p:txBody>
      </p:sp>
      <p:sp>
        <p:nvSpPr>
          <p:cNvPr id="36" name="Shape 34"/>
          <p:cNvSpPr/>
          <p:nvPr/>
        </p:nvSpPr>
        <p:spPr>
          <a:xfrm>
            <a:off x="4828032" y="4315968"/>
            <a:ext cx="109728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42885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Middleware &amp; CORS</a:t>
            </a:r>
            <a:endParaRPr lang="en-US" sz="1300"/>
          </a:p>
        </p:txBody>
      </p:sp>
      <p:sp>
        <p:nvSpPr>
          <p:cNvPr id="39" name="Text 37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CCCCDD"/>
                </a:solidFill>
                <a:ea typeface="Trebuchet MS" pitchFamily="34" charset="-122"/>
                <a:cs typeface="Trebuchet MS" pitchFamily="34" charset="-120"/>
              </a:rPr>
              <a:t>⚙  Közös eszközök:  Git &amp; GitHub  •  Discord  •  Visual Studio Code  •  Windows 10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Technológiai</a:t>
            </a:r>
            <a:r>
              <a:rPr lang="en-US" sz="28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 </a:t>
            </a:r>
            <a:r>
              <a:rPr lang="hu-HU" sz="2800" b="1" dirty="0" smtClean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s</a:t>
            </a:r>
            <a:r>
              <a:rPr lang="en-US" sz="2800" b="1" dirty="0" smtClean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chemeClr val="bg1"/>
                </a:solidFill>
                <a:ea typeface="Trebuchet MS" pitchFamily="34" charset="-122"/>
                <a:cs typeface="Trebuchet MS" pitchFamily="34" charset="-120"/>
              </a:rPr>
              <a:t>4 / 11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0972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/home/claude/project/imgs/reac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6968" y="1481328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21762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React 19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347472" y="2487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99BB0"/>
                </a:solidFill>
                <a:ea typeface="Trebuchet MS" pitchFamily="34" charset="-122"/>
                <a:cs typeface="Trebuchet MS" pitchFamily="34" charset="-120"/>
              </a:rPr>
              <a:t>ESLint • Vitest</a:t>
            </a:r>
            <a:endParaRPr lang="en-US" sz="900"/>
          </a:p>
        </p:txBody>
      </p:sp>
      <p:sp>
        <p:nvSpPr>
          <p:cNvPr id="11" name="Shape 8"/>
          <p:cNvSpPr/>
          <p:nvPr/>
        </p:nvSpPr>
        <p:spPr>
          <a:xfrm>
            <a:off x="2377440" y="1389888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450592" y="21762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B2D42"/>
                </a:solidFill>
              </a:rPr>
              <a:t>JavaScript</a:t>
            </a:r>
            <a:endParaRPr lang="en-US" sz="1200"/>
          </a:p>
        </p:txBody>
      </p:sp>
      <p:sp>
        <p:nvSpPr>
          <p:cNvPr id="14" name="Text 10"/>
          <p:cNvSpPr/>
          <p:nvPr/>
        </p:nvSpPr>
        <p:spPr>
          <a:xfrm>
            <a:off x="2450592" y="2487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99BB0"/>
                </a:solidFill>
                <a:ea typeface="Trebuchet MS" pitchFamily="34" charset="-122"/>
                <a:cs typeface="Trebuchet MS" pitchFamily="34" charset="-120"/>
              </a:rPr>
              <a:t>ESLint • Vitest</a:t>
            </a:r>
            <a:endParaRPr lang="en-US" sz="900"/>
          </a:p>
        </p:txBody>
      </p:sp>
      <p:sp>
        <p:nvSpPr>
          <p:cNvPr id="15" name="Shape 11"/>
          <p:cNvSpPr/>
          <p:nvPr/>
        </p:nvSpPr>
        <p:spPr>
          <a:xfrm>
            <a:off x="4480560" y="1389888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553712" y="21762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Vite</a:t>
            </a:r>
            <a:endParaRPr lang="en-US" sz="1200"/>
          </a:p>
        </p:txBody>
      </p:sp>
      <p:sp>
        <p:nvSpPr>
          <p:cNvPr id="18" name="Text 13"/>
          <p:cNvSpPr/>
          <p:nvPr/>
        </p:nvSpPr>
        <p:spPr>
          <a:xfrm>
            <a:off x="4553712" y="2487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99BB0"/>
                </a:solidFill>
                <a:ea typeface="Trebuchet MS" pitchFamily="34" charset="-122"/>
                <a:cs typeface="Trebuchet MS" pitchFamily="34" charset="-120"/>
              </a:rPr>
              <a:t>ESLint • Vitest</a:t>
            </a:r>
            <a:endParaRPr lang="en-US" sz="900"/>
          </a:p>
        </p:txBody>
      </p:sp>
      <p:sp>
        <p:nvSpPr>
          <p:cNvPr id="19" name="Shape 14"/>
          <p:cNvSpPr/>
          <p:nvPr/>
        </p:nvSpPr>
        <p:spPr>
          <a:xfrm>
            <a:off x="6583680" y="1389888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656832" y="21762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Chart.js</a:t>
            </a:r>
            <a:endParaRPr lang="en-US" sz="1200"/>
          </a:p>
        </p:txBody>
      </p:sp>
      <p:sp>
        <p:nvSpPr>
          <p:cNvPr id="22" name="Text 16"/>
          <p:cNvSpPr/>
          <p:nvPr/>
        </p:nvSpPr>
        <p:spPr>
          <a:xfrm>
            <a:off x="6656832" y="2487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99BB0"/>
                </a:solidFill>
                <a:ea typeface="Trebuchet MS" pitchFamily="34" charset="-122"/>
                <a:cs typeface="Trebuchet MS" pitchFamily="34" charset="-120"/>
              </a:rPr>
              <a:t>ESLint • Vitest</a:t>
            </a:r>
            <a:endParaRPr lang="en-US" sz="900"/>
          </a:p>
        </p:txBody>
      </p:sp>
      <p:sp>
        <p:nvSpPr>
          <p:cNvPr id="23" name="Shape 17"/>
          <p:cNvSpPr/>
          <p:nvPr/>
        </p:nvSpPr>
        <p:spPr>
          <a:xfrm>
            <a:off x="274320" y="2926080"/>
            <a:ext cx="8595360" cy="0"/>
          </a:xfrm>
          <a:prstGeom prst="line">
            <a:avLst/>
          </a:prstGeom>
          <a:noFill/>
          <a:ln w="19050">
            <a:solidFill>
              <a:srgbClr val="D4B896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274320" y="2990088"/>
            <a:ext cx="109728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74320" y="29900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900"/>
          </a:p>
        </p:txBody>
      </p:sp>
      <p:sp>
        <p:nvSpPr>
          <p:cNvPr id="26" name="Shape 20"/>
          <p:cNvSpPr/>
          <p:nvPr/>
        </p:nvSpPr>
        <p:spPr>
          <a:xfrm>
            <a:off x="274320" y="3401568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4" descr="/home/claude/project/imgs/nodej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6968" y="3493008"/>
            <a:ext cx="658368" cy="6583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47472" y="418795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1200"/>
          </a:p>
        </p:txBody>
      </p:sp>
      <p:sp>
        <p:nvSpPr>
          <p:cNvPr id="29" name="Text 22"/>
          <p:cNvSpPr/>
          <p:nvPr/>
        </p:nvSpPr>
        <p:spPr>
          <a:xfrm>
            <a:off x="347472" y="44622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99BB0"/>
                </a:solidFill>
                <a:ea typeface="Trebuchet MS" pitchFamily="34" charset="-122"/>
                <a:cs typeface="Trebuchet MS" pitchFamily="34" charset="-120"/>
              </a:rPr>
              <a:t>Futtatókörnyezet</a:t>
            </a:r>
            <a:endParaRPr lang="en-US" sz="900"/>
          </a:p>
        </p:txBody>
      </p:sp>
      <p:sp>
        <p:nvSpPr>
          <p:cNvPr id="30" name="Shape 23"/>
          <p:cNvSpPr/>
          <p:nvPr/>
        </p:nvSpPr>
        <p:spPr>
          <a:xfrm>
            <a:off x="2377440" y="3401568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1" name="Image 5" descr="/home/claude/project/imgs/expres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990088" y="3493008"/>
            <a:ext cx="658368" cy="6583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450592" y="418795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Express 5</a:t>
            </a:r>
            <a:endParaRPr lang="en-US" sz="1200"/>
          </a:p>
        </p:txBody>
      </p:sp>
      <p:sp>
        <p:nvSpPr>
          <p:cNvPr id="33" name="Text 25"/>
          <p:cNvSpPr/>
          <p:nvPr/>
        </p:nvSpPr>
        <p:spPr>
          <a:xfrm>
            <a:off x="2450592" y="44622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99BB0"/>
                </a:solidFill>
                <a:ea typeface="Trebuchet MS" pitchFamily="34" charset="-122"/>
                <a:cs typeface="Trebuchet MS" pitchFamily="34" charset="-120"/>
              </a:rPr>
              <a:t>REST API</a:t>
            </a:r>
            <a:endParaRPr lang="en-US" sz="900"/>
          </a:p>
        </p:txBody>
      </p:sp>
      <p:sp>
        <p:nvSpPr>
          <p:cNvPr id="34" name="Shape 26"/>
          <p:cNvSpPr/>
          <p:nvPr/>
        </p:nvSpPr>
        <p:spPr>
          <a:xfrm>
            <a:off x="4480560" y="3401568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5" name="Image 6" descr="/home/claude/project/imgs/typescript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93208" y="3493008"/>
            <a:ext cx="658368" cy="65836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553712" y="418795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TypeScript</a:t>
            </a:r>
            <a:endParaRPr lang="en-US" sz="1200"/>
          </a:p>
        </p:txBody>
      </p:sp>
      <p:sp>
        <p:nvSpPr>
          <p:cNvPr id="37" name="Text 28"/>
          <p:cNvSpPr/>
          <p:nvPr/>
        </p:nvSpPr>
        <p:spPr>
          <a:xfrm>
            <a:off x="4553712" y="44622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99BB0"/>
                </a:solidFill>
                <a:ea typeface="Trebuchet MS" pitchFamily="34" charset="-122"/>
                <a:cs typeface="Trebuchet MS" pitchFamily="34" charset="-120"/>
              </a:rPr>
              <a:t>Típusbiztonság</a:t>
            </a:r>
            <a:endParaRPr lang="en-US" sz="900"/>
          </a:p>
        </p:txBody>
      </p:sp>
      <p:sp>
        <p:nvSpPr>
          <p:cNvPr id="38" name="Shape 29"/>
          <p:cNvSpPr/>
          <p:nvPr/>
        </p:nvSpPr>
        <p:spPr>
          <a:xfrm>
            <a:off x="6583680" y="3401568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9" name="Image 7" descr="/home/claude/project/imgs/mysql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96328" y="3493008"/>
            <a:ext cx="658368" cy="65836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656832" y="418795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MySQL</a:t>
            </a:r>
            <a:endParaRPr lang="en-US" sz="1200"/>
          </a:p>
        </p:txBody>
      </p:sp>
      <p:sp>
        <p:nvSpPr>
          <p:cNvPr id="41" name="Text 31"/>
          <p:cNvSpPr/>
          <p:nvPr/>
        </p:nvSpPr>
        <p:spPr>
          <a:xfrm>
            <a:off x="6656832" y="44622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99BB0"/>
                </a:solidFill>
                <a:ea typeface="Trebuchet MS" pitchFamily="34" charset="-122"/>
                <a:cs typeface="Trebuchet MS" pitchFamily="34" charset="-120"/>
              </a:rPr>
              <a:t>Adatbázis</a:t>
            </a:r>
            <a:endParaRPr lang="en-US" sz="900"/>
          </a:p>
        </p:txBody>
      </p:sp>
      <p:sp>
        <p:nvSpPr>
          <p:cNvPr id="42" name="Shape 32"/>
          <p:cNvSpPr/>
          <p:nvPr/>
        </p:nvSpPr>
        <p:spPr>
          <a:xfrm>
            <a:off x="8732520" y="1389888"/>
            <a:ext cx="9144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555770"/>
                </a:solidFill>
                <a:ea typeface="Trebuchet MS" pitchFamily="34" charset="-122"/>
                <a:cs typeface="Trebuchet MS" pitchFamily="34" charset="-120"/>
              </a:rPr>
              <a:t>🔐 JWT  •  CORS  •  dotenv  •  mysql2/promise  •  Nodemon  •  tsx  •  TSLint</a:t>
            </a:r>
            <a:endParaRPr lang="en-US" sz="950"/>
          </a:p>
        </p:txBody>
      </p:sp>
      <p:pic>
        <p:nvPicPr>
          <p:cNvPr id="48" name="Kép 47">
            <a:extLst>
              <a:ext uri="{FF2B5EF4-FFF2-40B4-BE49-F238E27FC236}">
                <a16:creationId xmlns:a16="http://schemas.microsoft.com/office/drawing/2014/main" id="{CBC263BB-DBE1-4341-9193-730F65ADA0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0088" y="1521084"/>
            <a:ext cx="658368" cy="655188"/>
          </a:xfrm>
          <a:prstGeom prst="rect">
            <a:avLst/>
          </a:prstGeom>
        </p:spPr>
      </p:pic>
      <p:pic>
        <p:nvPicPr>
          <p:cNvPr id="49" name="Kép 48">
            <a:extLst>
              <a:ext uri="{FF2B5EF4-FFF2-40B4-BE49-F238E27FC236}">
                <a16:creationId xmlns:a16="http://schemas.microsoft.com/office/drawing/2014/main" id="{A52CFA2B-79E6-4D99-B815-0A2E4F8713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4616" y="1466188"/>
            <a:ext cx="658368" cy="774092"/>
          </a:xfrm>
          <a:prstGeom prst="rect">
            <a:avLst/>
          </a:prstGeom>
        </p:spPr>
      </p:pic>
      <p:pic>
        <p:nvPicPr>
          <p:cNvPr id="50" name="Kép 49">
            <a:extLst>
              <a:ext uri="{FF2B5EF4-FFF2-40B4-BE49-F238E27FC236}">
                <a16:creationId xmlns:a16="http://schemas.microsoft.com/office/drawing/2014/main" id="{BD4E2A61-BFDC-4138-9F4F-15A0E86590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1496" y="1522181"/>
            <a:ext cx="658368" cy="6576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446"/>
            <a:ext cx="91440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Rendszer</a:t>
            </a:r>
            <a:r>
              <a:rPr lang="en-US" sz="28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 </a:t>
            </a:r>
            <a:r>
              <a:rPr lang="hu-HU" sz="2800" b="1" dirty="0" err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a</a:t>
            </a:r>
            <a:r>
              <a:rPr lang="en-US" sz="2800" b="1" dirty="0" err="1" smtClean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rchitektúra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101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chemeClr val="bg1"/>
                </a:solidFill>
                <a:ea typeface="Trebuchet MS" pitchFamily="34" charset="-122"/>
                <a:cs typeface="Trebuchet MS" pitchFamily="34" charset="-120"/>
              </a:rPr>
              <a:t>5 / 11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754880" cy="1051560"/>
          </a:xfrm>
          <a:prstGeom prst="rect">
            <a:avLst/>
          </a:prstGeom>
          <a:solidFill>
            <a:srgbClr val="252840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9144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🖥  React </a:t>
            </a:r>
            <a:r>
              <a:rPr lang="hu-HU" sz="1600" b="1" dirty="0" smtClean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f</a:t>
            </a:r>
            <a:r>
              <a:rPr lang="en-US" sz="1600" b="1" dirty="0" err="1" smtClean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1554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ABBCC"/>
                </a:solidFill>
                <a:ea typeface="Trebuchet MS" pitchFamily="34" charset="-122"/>
                <a:cs typeface="Trebuchet MS" pitchFamily="34" charset="-120"/>
              </a:rPr>
              <a:t>fetch API  •  localStorage  •  JWT token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C0392B"/>
                </a:solidFill>
                <a:ea typeface="Trebuchet MS" pitchFamily="34" charset="-122"/>
                <a:cs typeface="Trebuchet MS" pitchFamily="34" charset="-120"/>
              </a:rPr>
              <a:t>▼ HTTP / JSON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65760" y="2400300"/>
            <a:ext cx="4754880" cy="1051560"/>
          </a:xfrm>
          <a:prstGeom prst="rect">
            <a:avLst/>
          </a:prstGeom>
          <a:solidFill>
            <a:srgbClr val="25284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00300"/>
            <a:ext cx="91440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917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⚙  Express </a:t>
            </a:r>
            <a:r>
              <a:rPr lang="hu-HU" sz="1600" b="1" dirty="0" smtClean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f</a:t>
            </a:r>
            <a:r>
              <a:rPr lang="en-US" sz="1600" b="1" dirty="0" err="1" smtClean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" y="29032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ABBCC"/>
                </a:solidFill>
                <a:ea typeface="Trebuchet MS" pitchFamily="34" charset="-122"/>
                <a:cs typeface="Trebuchet MS" pitchFamily="34" charset="-120"/>
              </a:rPr>
              <a:t>Controller réteg  →  Service réteg  •  CORS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139446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67E22"/>
                </a:solidFill>
                <a:ea typeface="Trebuchet MS" pitchFamily="34" charset="-122"/>
                <a:cs typeface="Trebuchet MS" pitchFamily="34" charset="-120"/>
              </a:rPr>
              <a:t>▼ HTTP / JSON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368300" y="3749040"/>
            <a:ext cx="4762500" cy="1051560"/>
          </a:xfrm>
          <a:prstGeom prst="rect">
            <a:avLst/>
          </a:prstGeom>
          <a:solidFill>
            <a:srgbClr val="25284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8299" y="3749040"/>
            <a:ext cx="91587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9468" y="3840480"/>
            <a:ext cx="4396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🗄  MySQL </a:t>
            </a:r>
            <a:r>
              <a:rPr lang="hu-HU" sz="1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a</a:t>
            </a:r>
            <a:r>
              <a:rPr lang="en-US" sz="1600" b="1" dirty="0" err="1" smtClean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datbázis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9468" y="4251960"/>
            <a:ext cx="4396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ABBCC"/>
                </a:solidFill>
                <a:ea typeface="Trebuchet MS" pitchFamily="34" charset="-122"/>
                <a:cs typeface="Trebuchet MS" pitchFamily="34" charset="-120"/>
              </a:rPr>
              <a:t>Connection pool  •  mysql2/promise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5486400" y="1005840"/>
            <a:ext cx="3337560" cy="3840480"/>
          </a:xfrm>
          <a:prstGeom prst="rect">
            <a:avLst/>
          </a:prstGeom>
          <a:solidFill>
            <a:srgbClr val="1E2235"/>
          </a:solidFill>
          <a:ln w="12700">
            <a:solidFill>
              <a:srgbClr val="3A3D56"/>
            </a:solidFill>
            <a:prstDash val="solid"/>
          </a:ln>
        </p:spPr>
      </p:sp>
      <p:pic>
        <p:nvPicPr>
          <p:cNvPr id="22" name="Kép 21" descr="A képen szöveg, képernyőkép, Betűtípus, Téglalap látható&#10;&#10;Lehet, hogy az AI által létrehozott tartalom helytelen.">
            <a:extLst>
              <a:ext uri="{FF2B5EF4-FFF2-40B4-BE49-F238E27FC236}">
                <a16:creationId xmlns:a16="http://schemas.microsoft.com/office/drawing/2014/main" id="{10C4C336-8FE6-513B-8A1C-D32B75306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503" y="922625"/>
            <a:ext cx="3343275" cy="40152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Adatbázis</a:t>
            </a:r>
            <a:r>
              <a:rPr lang="en-US" sz="28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 – ER </a:t>
            </a:r>
            <a:r>
              <a:rPr lang="hu-HU" sz="2800" b="1" dirty="0" smtClean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d</a:t>
            </a:r>
            <a:r>
              <a:rPr lang="en-US" sz="2800" b="1" dirty="0" err="1" smtClean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5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chemeClr val="bg1"/>
                </a:solidFill>
                <a:ea typeface="Trebuchet MS" pitchFamily="34" charset="-122"/>
                <a:cs typeface="Trebuchet MS" pitchFamily="34" charset="-120"/>
              </a:rPr>
              <a:t>6 / 11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3977640"/>
          </a:xfrm>
          <a:prstGeom prst="rect">
            <a:avLst/>
          </a:prstGeom>
          <a:solidFill>
            <a:srgbClr val="1A1C2E"/>
          </a:solidFill>
          <a:ln w="25400">
            <a:solidFill>
              <a:srgbClr val="C0392B"/>
            </a:solidFill>
            <a:prstDash val="solid"/>
          </a:ln>
        </p:spPr>
      </p:sp>
      <p:pic>
        <p:nvPicPr>
          <p:cNvPr id="6" name="Image 0" descr="/home/claude/project/imgs/er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859536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828032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82803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Felhasznalo</a:t>
            </a:r>
            <a:endParaRPr lang="en-US" sz="1100"/>
          </a:p>
        </p:txBody>
      </p:sp>
      <p:sp>
        <p:nvSpPr>
          <p:cNvPr id="9" name="Shape 6"/>
          <p:cNvSpPr/>
          <p:nvPr/>
        </p:nvSpPr>
        <p:spPr>
          <a:xfrm>
            <a:off x="2039112" y="4828032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39112" y="482803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Szerepkor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3758184" y="4828032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58184" y="482803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Tranzakcio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5477256" y="4828032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77256" y="482803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Kategoria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7196328" y="4828032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96328" y="482803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Cel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Funkcionális</a:t>
            </a:r>
            <a:r>
              <a:rPr lang="en-US" sz="28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 </a:t>
            </a:r>
            <a:r>
              <a:rPr lang="hu-HU" sz="28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k</a:t>
            </a:r>
            <a:r>
              <a:rPr lang="en-US" sz="2800" b="1" dirty="0" err="1" smtClean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övetelmények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03870" y="9829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chemeClr val="bg1"/>
                </a:solidFill>
                <a:ea typeface="Trebuchet MS" pitchFamily="34" charset="-122"/>
                <a:cs typeface="Trebuchet MS" pitchFamily="34" charset="-120"/>
              </a:rPr>
              <a:t>7 / 11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8288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1828800" cy="621792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24128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👤 Vendég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38912" y="1737360"/>
            <a:ext cx="91440" cy="256032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70992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Regisztráció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38912" y="2249424"/>
            <a:ext cx="91440" cy="256032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22199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Bemutató tartalom megtekintése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2304288" y="987552"/>
            <a:ext cx="393192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04288" y="987552"/>
            <a:ext cx="393192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4016" y="1024128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🔑 </a:t>
            </a:r>
            <a:r>
              <a:rPr lang="en-US" sz="1400" b="1" dirty="0" err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Regisztrált</a:t>
            </a:r>
            <a:r>
              <a:rPr lang="en-US" sz="1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 </a:t>
            </a:r>
            <a:r>
              <a:rPr lang="hu-HU" sz="1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f</a:t>
            </a:r>
            <a:r>
              <a:rPr lang="en-US" sz="1400" b="1" dirty="0" err="1" smtClean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elhasználó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68880" y="1737360"/>
            <a:ext cx="914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170992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Bejelentkezés / kijelentkezés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2468880" y="2249424"/>
            <a:ext cx="914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222199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Bevétel &amp; kiadás rögzítése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2468880" y="2761488"/>
            <a:ext cx="914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273405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Tranzakciólista megtekintése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2468880" y="3273552"/>
            <a:ext cx="914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324612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Grafikonos elemzés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2468880" y="3785616"/>
            <a:ext cx="914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375818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Megtakarítási célok kezelése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2468880" y="4297680"/>
            <a:ext cx="914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427024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Kamatszámláló használata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6437376" y="987552"/>
            <a:ext cx="29718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37376" y="987552"/>
            <a:ext cx="2971800" cy="621792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7104" y="1024128"/>
            <a:ext cx="2807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🛡 </a:t>
            </a:r>
            <a:r>
              <a:rPr lang="en-US" sz="1400" b="1" dirty="0" err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Adminisztrátor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01968" y="1737360"/>
            <a:ext cx="91440" cy="256032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170992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Felhasználók megtekintése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6601968" y="2249424"/>
            <a:ext cx="91440" cy="256032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22199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Adatok szerkesztése &amp; törlése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0" y="4658868"/>
            <a:ext cx="9144000" cy="475488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55770"/>
                </a:solidFill>
                <a:ea typeface="Trebuchet MS" pitchFamily="34" charset="-122"/>
                <a:cs typeface="Trebuchet MS" pitchFamily="34" charset="-120"/>
              </a:rPr>
              <a:t>Nem funkcionális:   📱 Reszponzív   ⚡ Egyszerű használhatóság   💾 Adatmegőrzés   ⚠ Hibakezelés &amp; validáció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Tesztelés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chemeClr val="bg1"/>
                </a:solidFill>
                <a:ea typeface="Trebuchet MS" pitchFamily="34" charset="-122"/>
                <a:cs typeface="Trebuchet MS" pitchFamily="34" charset="-120"/>
              </a:rPr>
              <a:t>8 / 11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69748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>
                <a:solidFill>
                  <a:srgbClr val="C0392B"/>
                </a:solidFill>
                <a:ea typeface="Trebuchet MS" pitchFamily="34" charset="-122"/>
                <a:cs typeface="Trebuchet MS" pitchFamily="34" charset="-120"/>
              </a:rPr>
              <a:t>16</a:t>
            </a:r>
            <a:endParaRPr lang="en-US" sz="5600"/>
          </a:p>
        </p:txBody>
      </p:sp>
      <p:sp>
        <p:nvSpPr>
          <p:cNvPr id="8" name="Text 6"/>
          <p:cNvSpPr/>
          <p:nvPr/>
        </p:nvSpPr>
        <p:spPr>
          <a:xfrm>
            <a:off x="274320" y="19385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Frontend teszt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274320" y="22311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99BB0"/>
                </a:solidFill>
                <a:ea typeface="Trebuchet MS" pitchFamily="34" charset="-122"/>
                <a:cs typeface="Trebuchet MS" pitchFamily="34" charset="-120"/>
              </a:rPr>
              <a:t>Vitest – mind sikeres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05840"/>
            <a:ext cx="2697480" cy="914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09728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>
                <a:solidFill>
                  <a:srgbClr val="2980B9"/>
                </a:solidFill>
                <a:ea typeface="Trebuchet MS" pitchFamily="34" charset="-122"/>
                <a:cs typeface="Trebuchet MS" pitchFamily="34" charset="-120"/>
              </a:rPr>
              <a:t>21</a:t>
            </a:r>
            <a:endParaRPr lang="en-US" sz="5600"/>
          </a:p>
        </p:txBody>
      </p:sp>
      <p:sp>
        <p:nvSpPr>
          <p:cNvPr id="13" name="Text 11"/>
          <p:cNvSpPr/>
          <p:nvPr/>
        </p:nvSpPr>
        <p:spPr>
          <a:xfrm>
            <a:off x="3154680" y="19385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Backend teszt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154680" y="22311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99BB0"/>
                </a:solidFill>
                <a:ea typeface="Trebuchet MS" pitchFamily="34" charset="-122"/>
                <a:cs typeface="Trebuchet MS" pitchFamily="34" charset="-120"/>
              </a:rPr>
              <a:t>Jest + Supertest – mind sikeres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05840"/>
            <a:ext cx="2697480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09728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>
                <a:solidFill>
                  <a:srgbClr val="27AE60"/>
                </a:solidFill>
                <a:ea typeface="Trebuchet MS" pitchFamily="34" charset="-122"/>
                <a:cs typeface="Trebuchet MS" pitchFamily="34" charset="-120"/>
              </a:rPr>
              <a:t>37</a:t>
            </a:r>
            <a:endParaRPr lang="en-US" sz="5600"/>
          </a:p>
        </p:txBody>
      </p:sp>
      <p:sp>
        <p:nvSpPr>
          <p:cNvPr id="18" name="Text 16"/>
          <p:cNvSpPr/>
          <p:nvPr/>
        </p:nvSpPr>
        <p:spPr>
          <a:xfrm>
            <a:off x="6035040" y="19385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Összesen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6035040" y="22311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99BB0"/>
                </a:solidFill>
                <a:ea typeface="Trebuchet MS" pitchFamily="34" charset="-122"/>
                <a:cs typeface="Trebuchet MS" pitchFamily="34" charset="-120"/>
              </a:rPr>
              <a:t>0 kritikus hiba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274320" y="2651760"/>
            <a:ext cx="4114800" cy="2286000"/>
          </a:xfrm>
          <a:prstGeom prst="rect">
            <a:avLst/>
          </a:prstGeom>
          <a:solidFill>
            <a:srgbClr val="F5F0EA"/>
          </a:solidFill>
          <a:ln w="12700">
            <a:solidFill>
              <a:srgbClr val="D4B896"/>
            </a:solidFill>
            <a:prstDash val="solid"/>
          </a:ln>
        </p:spPr>
      </p:sp>
      <p:pic>
        <p:nvPicPr>
          <p:cNvPr id="21" name="Image 0" descr="/home/claude/project/imgs/backend_teszte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2697480"/>
            <a:ext cx="4023360" cy="219456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617720" y="2651760"/>
            <a:ext cx="2011680" cy="1051560"/>
          </a:xfrm>
          <a:prstGeom prst="rect">
            <a:avLst/>
          </a:prstGeom>
          <a:solidFill>
            <a:srgbClr val="F9F5F0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17720" y="2651760"/>
            <a:ext cx="20116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27448" y="27614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  <a:ea typeface="Trebuchet MS" pitchFamily="34" charset="-122"/>
                <a:cs typeface="Trebuchet MS" pitchFamily="34" charset="-120"/>
              </a:rPr>
              <a:t>Autentikáció</a:t>
            </a:r>
            <a:endParaRPr lang="en-US" sz="1100"/>
          </a:p>
        </p:txBody>
      </p:sp>
      <p:sp>
        <p:nvSpPr>
          <p:cNvPr id="25" name="Text 22"/>
          <p:cNvSpPr/>
          <p:nvPr/>
        </p:nvSpPr>
        <p:spPr>
          <a:xfrm>
            <a:off x="4709160" y="3072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▸  Regisztráció (sikeres + duplikált)</a:t>
            </a:r>
            <a:endParaRPr lang="en-US" sz="1000"/>
          </a:p>
        </p:txBody>
      </p:sp>
      <p:sp>
        <p:nvSpPr>
          <p:cNvPr id="26" name="Text 23"/>
          <p:cNvSpPr/>
          <p:nvPr/>
        </p:nvSpPr>
        <p:spPr>
          <a:xfrm>
            <a:off x="470916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▸  Bejelentkezés (sikeres + hibás)</a:t>
            </a:r>
            <a:endParaRPr lang="en-US" sz="1000"/>
          </a:p>
        </p:txBody>
      </p:sp>
      <p:sp>
        <p:nvSpPr>
          <p:cNvPr id="27" name="Shape 24"/>
          <p:cNvSpPr/>
          <p:nvPr/>
        </p:nvSpPr>
        <p:spPr>
          <a:xfrm>
            <a:off x="6812280" y="2651760"/>
            <a:ext cx="2011680" cy="1051560"/>
          </a:xfrm>
          <a:prstGeom prst="rect">
            <a:avLst/>
          </a:prstGeom>
          <a:solidFill>
            <a:srgbClr val="F9F5F0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812280" y="2651760"/>
            <a:ext cx="20116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22008" y="27614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  <a:ea typeface="Trebuchet MS" pitchFamily="34" charset="-122"/>
                <a:cs typeface="Trebuchet MS" pitchFamily="34" charset="-120"/>
              </a:rPr>
              <a:t>Tranzakciók</a:t>
            </a:r>
            <a:endParaRPr lang="en-US" sz="1100"/>
          </a:p>
        </p:txBody>
      </p:sp>
      <p:sp>
        <p:nvSpPr>
          <p:cNvPr id="30" name="Text 27"/>
          <p:cNvSpPr/>
          <p:nvPr/>
        </p:nvSpPr>
        <p:spPr>
          <a:xfrm>
            <a:off x="6903720" y="3072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▸  Lista, új, egyenleg, kategóriák</a:t>
            </a:r>
            <a:endParaRPr lang="en-US" sz="1000"/>
          </a:p>
        </p:txBody>
      </p:sp>
      <p:sp>
        <p:nvSpPr>
          <p:cNvPr id="31" name="Shape 28"/>
          <p:cNvSpPr/>
          <p:nvPr/>
        </p:nvSpPr>
        <p:spPr>
          <a:xfrm>
            <a:off x="4617720" y="3840480"/>
            <a:ext cx="2011680" cy="1051560"/>
          </a:xfrm>
          <a:prstGeom prst="rect">
            <a:avLst/>
          </a:prstGeom>
          <a:solidFill>
            <a:srgbClr val="F9F5F0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617720" y="3840480"/>
            <a:ext cx="20116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27448" y="3950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0392B"/>
                </a:solidFill>
                <a:ea typeface="Trebuchet MS" pitchFamily="34" charset="-122"/>
                <a:cs typeface="Trebuchet MS" pitchFamily="34" charset="-120"/>
              </a:rPr>
              <a:t>Célkezelés</a:t>
            </a:r>
            <a:endParaRPr lang="en-US" sz="1200"/>
          </a:p>
        </p:txBody>
      </p:sp>
      <p:sp>
        <p:nvSpPr>
          <p:cNvPr id="34" name="Text 31"/>
          <p:cNvSpPr/>
          <p:nvPr/>
        </p:nvSpPr>
        <p:spPr>
          <a:xfrm>
            <a:off x="4709160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▸  Létrehozás, frissítés, törlés</a:t>
            </a:r>
            <a:endParaRPr lang="en-US" sz="1000"/>
          </a:p>
        </p:txBody>
      </p:sp>
      <p:sp>
        <p:nvSpPr>
          <p:cNvPr id="35" name="Shape 32"/>
          <p:cNvSpPr/>
          <p:nvPr/>
        </p:nvSpPr>
        <p:spPr>
          <a:xfrm>
            <a:off x="6812280" y="3840480"/>
            <a:ext cx="2011680" cy="1051560"/>
          </a:xfrm>
          <a:prstGeom prst="rect">
            <a:avLst/>
          </a:prstGeom>
          <a:solidFill>
            <a:srgbClr val="F9F5F0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12280" y="3840480"/>
            <a:ext cx="20116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22008" y="3950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  <a:ea typeface="Trebuchet MS" pitchFamily="34" charset="-122"/>
                <a:cs typeface="Trebuchet MS" pitchFamily="34" charset="-120"/>
              </a:rPr>
              <a:t>Negatív tesztek</a:t>
            </a:r>
            <a:endParaRPr lang="en-US" sz="1100"/>
          </a:p>
        </p:txBody>
      </p:sp>
      <p:sp>
        <p:nvSpPr>
          <p:cNvPr id="38" name="Text 35"/>
          <p:cNvSpPr/>
          <p:nvPr/>
        </p:nvSpPr>
        <p:spPr>
          <a:xfrm>
            <a:off x="6903720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▸  Token nélküli kérés, üres mezők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Demo – Az Alkalmazás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chemeClr val="bg1"/>
                </a:solidFill>
                <a:ea typeface="Trebuchet MS" pitchFamily="34" charset="-122"/>
                <a:cs typeface="Trebuchet MS" pitchFamily="34" charset="-120"/>
              </a:rPr>
              <a:t>9 / 11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4251960" cy="2029968"/>
          </a:xfrm>
          <a:prstGeom prst="rect">
            <a:avLst/>
          </a:prstGeom>
          <a:solidFill>
            <a:srgbClr val="1A1C2E"/>
          </a:solidFill>
          <a:ln w="19050">
            <a:solidFill>
              <a:srgbClr val="C0392B"/>
            </a:solidFill>
            <a:prstDash val="solid"/>
          </a:ln>
        </p:spPr>
      </p:sp>
      <p:pic>
        <p:nvPicPr>
          <p:cNvPr id="6" name="Image 0" descr="/home/claude/project/imgs/foold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33272"/>
            <a:ext cx="4160520" cy="1874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09160" y="987552"/>
            <a:ext cx="4251960" cy="2029968"/>
          </a:xfrm>
          <a:prstGeom prst="rect">
            <a:avLst/>
          </a:prstGeom>
          <a:solidFill>
            <a:srgbClr val="1A1C2E"/>
          </a:solidFill>
          <a:ln w="19050">
            <a:solidFill>
              <a:srgbClr val="C0392B"/>
            </a:solidFill>
            <a:prstDash val="solid"/>
          </a:ln>
        </p:spPr>
      </p:sp>
      <p:pic>
        <p:nvPicPr>
          <p:cNvPr id="10" name="Image 1" descr="/home/claude/project/imgs/grafikonok.jfif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033272"/>
            <a:ext cx="4160520" cy="18745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8600" y="3085084"/>
            <a:ext cx="4251960" cy="2029968"/>
          </a:xfrm>
          <a:prstGeom prst="rect">
            <a:avLst/>
          </a:prstGeom>
          <a:solidFill>
            <a:srgbClr val="1A1C2E"/>
          </a:solidFill>
          <a:ln w="19050">
            <a:solidFill>
              <a:srgbClr val="C0392B"/>
            </a:solidFill>
            <a:prstDash val="solid"/>
          </a:ln>
        </p:spPr>
      </p:sp>
      <p:pic>
        <p:nvPicPr>
          <p:cNvPr id="14" name="Image 2" descr="/home/claude/project/imgs/tervek_oldal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4320" y="3130804"/>
            <a:ext cx="4160520" cy="18745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709160" y="3084739"/>
            <a:ext cx="4251960" cy="2036959"/>
          </a:xfrm>
          <a:prstGeom prst="rect">
            <a:avLst/>
          </a:prstGeom>
          <a:solidFill>
            <a:srgbClr val="1A1C2E"/>
          </a:solidFill>
          <a:ln w="19050">
            <a:solidFill>
              <a:srgbClr val="C0392B"/>
            </a:solidFill>
            <a:prstDash val="solid"/>
          </a:ln>
        </p:spPr>
      </p:sp>
      <p:pic>
        <p:nvPicPr>
          <p:cNvPr id="18" name="Image 3" descr="/home/claude/project/imgs/admin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54880" y="3130804"/>
            <a:ext cx="4160520" cy="1874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Összegzés &amp; Kitekintés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229600" y="-177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chemeClr val="bg1"/>
                </a:solidFill>
                <a:ea typeface="Trebuchet MS" pitchFamily="34" charset="-122"/>
                <a:cs typeface="Trebuchet MS" pitchFamily="34" charset="-120"/>
              </a:rPr>
              <a:t>10 / 11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64592" cy="3977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24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7AE60"/>
                </a:solidFill>
                <a:ea typeface="Trebuchet MS" pitchFamily="34" charset="-122"/>
                <a:cs typeface="Trebuchet MS" pitchFamily="34" charset="-120"/>
              </a:rPr>
              <a:t>✅  Megvalósítva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566928" y="1508760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4721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Teljes JWT autentikáció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566928" y="1993392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9568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Tranzakció rögzítés &amp; megjelenítés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566928" y="2478024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441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Interaktív grafikonok (Chart.js)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566928" y="2962656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9260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Megtakarítási célok &amp; kamatszámláló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566928" y="3447288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4107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Admin felület (CRUD)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566928" y="3931920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8953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37 automatizált teszt – mind sikeres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66928" y="4416552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43799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Reszponzív, felhasználóbarát UI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4663440" y="987552"/>
            <a:ext cx="0" cy="3977640"/>
          </a:xfrm>
          <a:prstGeom prst="line">
            <a:avLst/>
          </a:prstGeom>
          <a:noFill/>
          <a:ln w="19050">
            <a:solidFill>
              <a:srgbClr val="D4B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24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67E22"/>
                </a:solidFill>
                <a:ea typeface="Trebuchet MS" pitchFamily="34" charset="-122"/>
                <a:cs typeface="Trebuchet MS" pitchFamily="34" charset="-120"/>
              </a:rPr>
              <a:t>🔭  Továbbfejlesztési lehetőségek</a:t>
            </a:r>
            <a:endParaRPr lang="en-US" sz="1500"/>
          </a:p>
        </p:txBody>
      </p:sp>
      <p:sp>
        <p:nvSpPr>
          <p:cNvPr id="23" name="Shape 21"/>
          <p:cNvSpPr/>
          <p:nvPr/>
        </p:nvSpPr>
        <p:spPr>
          <a:xfrm>
            <a:off x="4846320" y="1490472"/>
            <a:ext cx="3977640" cy="438912"/>
          </a:xfrm>
          <a:prstGeom prst="rect">
            <a:avLst/>
          </a:prstGeom>
          <a:solidFill>
            <a:srgbClr val="FAF6F0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51790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  <a:ea typeface="Trebuchet MS" pitchFamily="34" charset="-122"/>
                <a:cs typeface="Trebuchet MS" pitchFamily="34" charset="-120"/>
              </a:rPr>
              <a:t>📧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5285232" y="1536192"/>
            <a:ext cx="3456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Email értesítések küldése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4846320" y="2011680"/>
            <a:ext cx="3977640" cy="438912"/>
          </a:xfrm>
          <a:prstGeom prst="rect">
            <a:avLst/>
          </a:prstGeom>
          <a:solidFill>
            <a:srgbClr val="FAF6F0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203911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  <a:ea typeface="Trebuchet MS" pitchFamily="34" charset="-122"/>
                <a:cs typeface="Trebuchet MS" pitchFamily="34" charset="-120"/>
              </a:rPr>
              <a:t>📱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5285232" y="2057400"/>
            <a:ext cx="3456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Natív mobilalkalmazás (React Native)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4846320" y="2532888"/>
            <a:ext cx="3977640" cy="438912"/>
          </a:xfrm>
          <a:prstGeom prst="rect">
            <a:avLst/>
          </a:prstGeom>
          <a:solidFill>
            <a:srgbClr val="FAF6F0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25603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  <a:ea typeface="Trebuchet MS" pitchFamily="34" charset="-122"/>
                <a:cs typeface="Trebuchet MS" pitchFamily="34" charset="-120"/>
              </a:rPr>
              <a:t>🤖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5285232" y="2578608"/>
            <a:ext cx="3456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AI-alapú kiadáselemzés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4846320" y="3054096"/>
            <a:ext cx="3977640" cy="438912"/>
          </a:xfrm>
          <a:prstGeom prst="rect">
            <a:avLst/>
          </a:prstGeom>
          <a:solidFill>
            <a:srgbClr val="FAF6F0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30815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  <a:ea typeface="Trebuchet MS" pitchFamily="34" charset="-122"/>
                <a:cs typeface="Trebuchet MS" pitchFamily="34" charset="-120"/>
              </a:rPr>
              <a:t>💱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5285232" y="3099816"/>
            <a:ext cx="3456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Valutakonverter integráció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4846320" y="3575304"/>
            <a:ext cx="3977640" cy="438912"/>
          </a:xfrm>
          <a:prstGeom prst="rect">
            <a:avLst/>
          </a:prstGeom>
          <a:solidFill>
            <a:srgbClr val="FAF6F0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92040" y="360273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  <a:ea typeface="Trebuchet MS" pitchFamily="34" charset="-122"/>
                <a:cs typeface="Trebuchet MS" pitchFamily="34" charset="-120"/>
              </a:rPr>
              <a:t>🌍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5285232" y="3621024"/>
            <a:ext cx="3456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Többnyelvű felület (i18n)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4846320" y="4096512"/>
            <a:ext cx="3977640" cy="438912"/>
          </a:xfrm>
          <a:prstGeom prst="rect">
            <a:avLst/>
          </a:prstGeom>
          <a:solidFill>
            <a:srgbClr val="FAF6F0"/>
          </a:solidFill>
          <a:ln w="12700">
            <a:solidFill>
              <a:srgbClr val="E8E0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92040" y="412394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  <a:ea typeface="Trebuchet MS" pitchFamily="34" charset="-122"/>
                <a:cs typeface="Trebuchet MS" pitchFamily="34" charset="-120"/>
              </a:rPr>
              <a:t>📤</a:t>
            </a:r>
            <a:endParaRPr lang="en-US" sz="1600"/>
          </a:p>
        </p:txBody>
      </p:sp>
      <p:sp>
        <p:nvSpPr>
          <p:cNvPr id="40" name="Text 38"/>
          <p:cNvSpPr/>
          <p:nvPr/>
        </p:nvSpPr>
        <p:spPr>
          <a:xfrm>
            <a:off x="5285232" y="4142232"/>
            <a:ext cx="3456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D42"/>
                </a:solidFill>
                <a:ea typeface="Trebuchet MS" pitchFamily="34" charset="-122"/>
                <a:cs typeface="Trebuchet MS" pitchFamily="34" charset="-120"/>
              </a:rPr>
              <a:t>CSV / PDF export funkció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24528"/>
            <a:ext cx="91440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48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Köszönöm</a:t>
            </a:r>
            <a:endParaRPr lang="en-US" sz="600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E67E22"/>
                </a:solidFill>
                <a:ea typeface="Trebuchet MS" pitchFamily="34" charset="-122"/>
                <a:cs typeface="Trebuchet MS" pitchFamily="34" charset="-120"/>
              </a:rPr>
              <a:t>a figyelmet!</a:t>
            </a:r>
            <a:endParaRPr lang="en-US" sz="6000"/>
          </a:p>
        </p:txBody>
      </p:sp>
      <p:sp>
        <p:nvSpPr>
          <p:cNvPr id="6" name="Text 4"/>
          <p:cNvSpPr/>
          <p:nvPr/>
        </p:nvSpPr>
        <p:spPr>
          <a:xfrm>
            <a:off x="685800" y="2542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BBBBCC"/>
                </a:solidFill>
                <a:ea typeface="Trebuchet MS" pitchFamily="34" charset="-122"/>
                <a:cs typeface="Trebuchet MS" pitchFamily="34" charset="-120"/>
              </a:rPr>
              <a:t>Várjuk a kérdéseket!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685800" y="42793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D0C0"/>
                </a:solidFill>
                <a:ea typeface="Trebuchet MS" pitchFamily="34" charset="-122"/>
                <a:cs typeface="Trebuchet MS" pitchFamily="34" charset="-120"/>
              </a:rPr>
              <a:t>Projekt: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685800" y="4480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Budget Buddy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42793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D0C0"/>
                </a:solidFill>
                <a:ea typeface="Trebuchet MS" pitchFamily="34" charset="-122"/>
                <a:cs typeface="Trebuchet MS" pitchFamily="34" charset="-120"/>
              </a:rPr>
              <a:t>Csoporttagok: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3520440" y="4480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Tóth Bálint  /  Gál Alex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6355080" y="42793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D0C0"/>
                </a:solidFill>
                <a:ea typeface="Trebuchet MS" pitchFamily="34" charset="-122"/>
                <a:cs typeface="Trebuchet MS" pitchFamily="34" charset="-120"/>
              </a:rPr>
              <a:t>Konzulens: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6355080" y="4480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Dorogházi Donát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8229600" y="406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483</Words>
  <Application>Microsoft Office PowerPoint</Application>
  <PresentationFormat>Diavetítés a képernyőre (16:9 oldalarány)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 Buddy – Vizsgaremek</dc:title>
  <dc:subject>PptxGenJS Presentation</dc:subject>
  <dc:creator>PptxGenJS</dc:creator>
  <cp:lastModifiedBy>Alex</cp:lastModifiedBy>
  <cp:revision>8</cp:revision>
  <dcterms:created xsi:type="dcterms:W3CDTF">2026-04-15T18:16:40Z</dcterms:created>
  <dcterms:modified xsi:type="dcterms:W3CDTF">2026-04-16T20:00:35Z</dcterms:modified>
</cp:coreProperties>
</file>